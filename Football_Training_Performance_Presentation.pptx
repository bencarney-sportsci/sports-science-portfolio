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A2EEB-AC4F-392B-4A21-A2C0B04C334C}" v="2181" dt="2026-07-01T17:52:56.113"/>
    <p1510:client id="{843AB589-AF8E-9B79-A8FD-C31F065E6D99}" v="2" dt="2026-07-03T12:35:34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</a:rPr>
              <a:t>Football Training Camp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2"/>
                </a:solidFill>
              </a:rPr>
              <a:t>4 Day Simulated GPS Monitoring Study </a:t>
            </a:r>
          </a:p>
          <a:p>
            <a:r>
              <a:rPr lang="en-US">
                <a:solidFill>
                  <a:schemeClr val="bg2"/>
                </a:solidFill>
              </a:rPr>
              <a:t>20 Athletes</a:t>
            </a:r>
          </a:p>
          <a:p>
            <a:r>
              <a:rPr lang="en-US">
                <a:solidFill>
                  <a:schemeClr val="bg2"/>
                </a:solidFill>
              </a:rPr>
              <a:t>Sport Science Portfolio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EDEA1-3B25-9FAD-E22E-7850DBD72177}"/>
              </a:ext>
            </a:extLst>
          </p:cNvPr>
          <p:cNvSpPr txBox="1"/>
          <p:nvPr/>
        </p:nvSpPr>
        <p:spPr>
          <a:xfrm>
            <a:off x="3742539" y="5264997"/>
            <a:ext cx="47098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Ben Carney | UA Kinesiology Masters </a:t>
            </a:r>
            <a:r>
              <a:rPr lang="en-US">
                <a:solidFill>
                  <a:schemeClr val="bg2"/>
                </a:solidFill>
              </a:rPr>
              <a:t>Student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9B7C-FD25-95F1-2BB7-C68018748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Objective &amp;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4AA04-D23C-8D39-E3C4-90364DE62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Objective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bg2"/>
                </a:solidFill>
              </a:rPr>
              <a:t>Evaluate external workload and physiological responses </a:t>
            </a:r>
            <a:r>
              <a:rPr lang="en-US" dirty="0">
                <a:solidFill>
                  <a:schemeClr val="bg2"/>
                </a:solidFill>
              </a:rPr>
              <a:t>across a simulated 4-day football training camp using athlete monitoring metrics</a:t>
            </a:r>
          </a:p>
          <a:p>
            <a:pPr marL="0" indent="0">
              <a:buNone/>
            </a:pPr>
            <a:r>
              <a:rPr lang="en-US" sz="3200" b="1">
                <a:solidFill>
                  <a:schemeClr val="bg1">
                    <a:lumMod val="95000"/>
                  </a:schemeClr>
                </a:solidFill>
              </a:rPr>
              <a:t>Dataset:</a:t>
            </a:r>
          </a:p>
          <a:p>
            <a:r>
              <a:rPr lang="en-US" sz="2000">
                <a:solidFill>
                  <a:schemeClr val="bg2"/>
                </a:solidFill>
              </a:rPr>
              <a:t>20 athletes </a:t>
            </a:r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>
                <a:solidFill>
                  <a:schemeClr val="bg2"/>
                </a:solidFill>
              </a:rPr>
              <a:t>4-day training camp (80 total athlete-day observations)</a:t>
            </a:r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>
                <a:solidFill>
                  <a:schemeClr val="bg2"/>
                </a:solidFill>
              </a:rPr>
              <a:t>Position groups: Skill (WR/RB), Lineman (RT/LT/G/C), Hybrid (QB/TE/FB)</a:t>
            </a:r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Metrics: Player Load (AU), Top Speed (mph), % Body Mass Loss (Fluid Loss), Maximum Velocity (mph), High-Speed Running Distance (yards), baseline weight &amp; post practice weight (</a:t>
            </a:r>
            <a:r>
              <a:rPr lang="en-US" sz="2000" dirty="0" err="1">
                <a:solidFill>
                  <a:schemeClr val="bg2"/>
                </a:solidFill>
              </a:rPr>
              <a:t>lbs</a:t>
            </a:r>
            <a:r>
              <a:rPr lang="en-US" sz="2000" dirty="0">
                <a:solidFill>
                  <a:schemeClr val="bg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38054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DC77-A893-8CD0-C86F-105385A0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Player Load by Position Group</a:t>
            </a:r>
          </a:p>
        </p:txBody>
      </p:sp>
      <p:pic>
        <p:nvPicPr>
          <p:cNvPr id="11" name="Content Placeholder 10" descr="A screenshot of a graph&#10;&#10;AI-generated content may be incorrect.">
            <a:extLst>
              <a:ext uri="{FF2B5EF4-FFF2-40B4-BE49-F238E27FC236}">
                <a16:creationId xmlns:a16="http://schemas.microsoft.com/office/drawing/2014/main" id="{C09802A1-205B-70FB-F0D0-2E4157DA1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943" y="1696244"/>
            <a:ext cx="6226629" cy="3746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D0D2B0-9822-A925-AC60-56A40A76ACB8}"/>
              </a:ext>
            </a:extLst>
          </p:cNvPr>
          <p:cNvSpPr txBox="1"/>
          <p:nvPr/>
        </p:nvSpPr>
        <p:spPr>
          <a:xfrm>
            <a:off x="7376405" y="1705311"/>
            <a:ext cx="471714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/>
                </a:solidFill>
              </a:rPr>
              <a:t>Linemen recorded the highest average Player Load, indicating the greatest overall mechanical workload</a:t>
            </a:r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Hybrid athletes </a:t>
            </a:r>
            <a:r>
              <a:rPr lang="en-US">
                <a:solidFill>
                  <a:schemeClr val="bg2"/>
                </a:solidFill>
              </a:rPr>
              <a:t>demonstrated moderate workload levels relative to other groups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Skill </a:t>
            </a:r>
            <a:r>
              <a:rPr lang="en-US">
                <a:solidFill>
                  <a:schemeClr val="bg2"/>
                </a:solidFill>
              </a:rPr>
              <a:t>position athletes exhibited lower overall mechanical load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72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08F22-868B-C28D-35A2-C1C3B359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High-Speed Running Distance by Position Group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7A1C954B-C4EA-F976-841E-AC356637A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25" y="1696244"/>
            <a:ext cx="6682922" cy="36013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4EA746-D445-9F07-25FA-42C7D4357E52}"/>
              </a:ext>
            </a:extLst>
          </p:cNvPr>
          <p:cNvSpPr txBox="1"/>
          <p:nvPr/>
        </p:nvSpPr>
        <p:spPr>
          <a:xfrm>
            <a:off x="7812860" y="1819302"/>
            <a:ext cx="425268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/>
                </a:solidFill>
              </a:rPr>
              <a:t>Skill athletes accumulated the highest High-Speed Running Distance, reflecting greater positional sprint demands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Hybrid </a:t>
            </a:r>
            <a:r>
              <a:rPr lang="en-US">
                <a:solidFill>
                  <a:schemeClr val="bg2"/>
                </a:solidFill>
              </a:rPr>
              <a:t>athletes demonstrated moderate movement demand during the training camp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Linemen recorded minimal high-speed running exposure due to positional role </a:t>
            </a:r>
            <a:r>
              <a:rPr lang="en-US">
                <a:solidFill>
                  <a:schemeClr val="bg2"/>
                </a:solidFill>
              </a:rPr>
              <a:t>requirements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01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C452-14AD-582F-AE68-BFC1A9D20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Physiological Response 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(%Body Mass Loss)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Content Placeholder 3" descr="A graph of body mass loss&#10;&#10;AI-generated content may be incorrect.">
            <a:extLst>
              <a:ext uri="{FF2B5EF4-FFF2-40B4-BE49-F238E27FC236}">
                <a16:creationId xmlns:a16="http://schemas.microsoft.com/office/drawing/2014/main" id="{F734FF66-FFFA-487F-0A13-67795B1B9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943" y="1696244"/>
            <a:ext cx="5849258" cy="35142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9A4E8A-47C8-19EF-09C6-ABDFB347AC6B}"/>
              </a:ext>
            </a:extLst>
          </p:cNvPr>
          <p:cNvSpPr txBox="1"/>
          <p:nvPr/>
        </p:nvSpPr>
        <p:spPr>
          <a:xfrm>
            <a:off x="6982839" y="1707738"/>
            <a:ext cx="497114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Linemen experienced the  highest average Percent Body Mass Loss (2.1%), indicating greater </a:t>
            </a:r>
            <a:r>
              <a:rPr lang="en-US">
                <a:solidFill>
                  <a:schemeClr val="bg2"/>
                </a:solidFill>
              </a:rPr>
              <a:t>physiological strain compared to other position groups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Skill ath</a:t>
            </a:r>
            <a:r>
              <a:rPr lang="en-US">
                <a:solidFill>
                  <a:schemeClr val="bg2"/>
                </a:solidFill>
              </a:rPr>
              <a:t>letes demonstrated the lowest relative hydration loss across the 4-day training </a:t>
            </a:r>
            <a:r>
              <a:rPr lang="en-US" dirty="0">
                <a:solidFill>
                  <a:schemeClr val="bg2"/>
                </a:solidFill>
              </a:rPr>
              <a:t>period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/>
                </a:solidFill>
              </a:rPr>
              <a:t>Results suggest positional differences in fluid loss due to responses from training load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91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F9D8-D523-E4B8-D30E-1ED86ADD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354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Training Camp Load &amp; Fatigue Trends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CD14E8C7-C723-AE98-9075-CE952B9B4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866" y="1121683"/>
            <a:ext cx="5565298" cy="3168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17A657-3149-C29B-88BD-FC36B9F6E8BC}"/>
              </a:ext>
            </a:extLst>
          </p:cNvPr>
          <p:cNvSpPr txBox="1"/>
          <p:nvPr/>
        </p:nvSpPr>
        <p:spPr>
          <a:xfrm>
            <a:off x="7462184" y="1956674"/>
            <a:ext cx="439782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/>
                </a:solidFill>
              </a:rPr>
              <a:t>Player Load peaked on Day 3 of the training camp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2"/>
                </a:solidFill>
              </a:rPr>
              <a:t>Percent Body Mass Loss increased toward Day 4, suggesting cumulative physiological fatigue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2"/>
                </a:solidFill>
              </a:rPr>
              <a:t>External workload and physiologi</a:t>
            </a:r>
            <a:r>
              <a:rPr lang="en-US">
                <a:solidFill>
                  <a:schemeClr val="bg2"/>
                </a:solidFill>
              </a:rPr>
              <a:t>cal response peaked on different days, indicating a delayed internal response to training stress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6" name="Picture 5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91D68386-18CE-8C38-8140-B0FC8C077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6" y="3968750"/>
            <a:ext cx="5578474" cy="28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56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947D-4646-C5A7-E45A-A0E465A7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>
                    <a:lumMod val="95000"/>
                  </a:schemeClr>
                </a:solidFill>
              </a:rPr>
              <a:t>Key Takeaways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B6F6C-0DDC-F9CF-B358-8A10EADC3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Positional demands signif</a:t>
            </a:r>
            <a:r>
              <a:rPr lang="en-US">
                <a:solidFill>
                  <a:schemeClr val="bg2"/>
                </a:solidFill>
              </a:rPr>
              <a:t>icantly influence external workload and movement profiles</a:t>
            </a:r>
          </a:p>
          <a:p>
            <a:r>
              <a:rPr lang="en-US" dirty="0">
                <a:solidFill>
                  <a:schemeClr val="bg2"/>
                </a:solidFill>
              </a:rPr>
              <a:t>External load and physiological response do not always align temporally across  a training </a:t>
            </a:r>
            <a:r>
              <a:rPr lang="en-US" dirty="0" err="1">
                <a:solidFill>
                  <a:schemeClr val="bg2"/>
                </a:solidFill>
              </a:rPr>
              <a:t>microcycle</a:t>
            </a:r>
          </a:p>
          <a:p>
            <a:r>
              <a:rPr lang="en-US">
                <a:solidFill>
                  <a:schemeClr val="bg2"/>
                </a:solidFill>
              </a:rPr>
              <a:t>Monitoring multiple performance metrics provides a more complete understanding of athlete stress and fatigue</a:t>
            </a:r>
          </a:p>
          <a:p>
            <a:r>
              <a:rPr lang="en-US">
                <a:solidFill>
                  <a:schemeClr val="bg2"/>
                </a:solidFill>
              </a:rPr>
              <a:t>Simulated GPS data effectively replicates real-world athlete monitoring workflows for analysis purposes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09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Football Training Camp Performance Analysis</vt:lpstr>
      <vt:lpstr>Objective &amp; Dataset Overview</vt:lpstr>
      <vt:lpstr>Player Load by Position Group</vt:lpstr>
      <vt:lpstr>High-Speed Running Distance by Position Group</vt:lpstr>
      <vt:lpstr>Physiological Response  (%Body Mass Loss)</vt:lpstr>
      <vt:lpstr>Training Camp Load &amp; Fatigue Trends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320</cp:revision>
  <dcterms:created xsi:type="dcterms:W3CDTF">2026-07-01T16:38:49Z</dcterms:created>
  <dcterms:modified xsi:type="dcterms:W3CDTF">2026-07-03T12:37:23Z</dcterms:modified>
</cp:coreProperties>
</file>